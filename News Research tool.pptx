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B71F43-2914-477D-B853-CF3DEE1103D2}" type="doc">
      <dgm:prSet loTypeId="urn:microsoft.com/office/officeart/2005/8/layout/process1" loCatId="process" qsTypeId="urn:microsoft.com/office/officeart/2005/8/quickstyle/3d1" qsCatId="3D" csTypeId="urn:microsoft.com/office/officeart/2005/8/colors/accent1_2" csCatId="accent1" phldr="1"/>
      <dgm:spPr/>
    </dgm:pt>
    <dgm:pt modelId="{40E0F089-7604-4280-9C43-B9E676BED8A4}">
      <dgm:prSet phldrT="[Text]"/>
      <dgm:spPr/>
      <dgm:t>
        <a:bodyPr/>
        <a:lstStyle/>
        <a:p>
          <a:pPr>
            <a:buNone/>
          </a:pPr>
          <a:r>
            <a:rPr lang="en-US" dirty="0"/>
            <a:t>One application</a:t>
          </a:r>
        </a:p>
      </dgm:t>
    </dgm:pt>
    <dgm:pt modelId="{340F5D0F-98C9-4A9B-89B0-B1A8BC8F32A6}" type="parTrans" cxnId="{E9ACBFC3-1C07-4CE7-B387-93B1E3971847}">
      <dgm:prSet/>
      <dgm:spPr/>
      <dgm:t>
        <a:bodyPr/>
        <a:lstStyle/>
        <a:p>
          <a:endParaRPr lang="en-US"/>
        </a:p>
      </dgm:t>
    </dgm:pt>
    <dgm:pt modelId="{93C59E49-7001-4E97-94D6-24EB2208ED52}" type="sibTrans" cxnId="{E9ACBFC3-1C07-4CE7-B387-93B1E3971847}">
      <dgm:prSet/>
      <dgm:spPr/>
      <dgm:t>
        <a:bodyPr/>
        <a:lstStyle/>
        <a:p>
          <a:endParaRPr lang="en-US"/>
        </a:p>
      </dgm:t>
    </dgm:pt>
    <dgm:pt modelId="{37D3AE43-C2FE-4CA3-90EE-CBB1977CB33B}">
      <dgm:prSet phldrT="[Text]"/>
      <dgm:spPr/>
      <dgm:t>
        <a:bodyPr/>
        <a:lstStyle/>
        <a:p>
          <a:pPr>
            <a:buNone/>
          </a:pPr>
          <a:r>
            <a:rPr lang="en-US" dirty="0"/>
            <a:t>Search </a:t>
          </a:r>
        </a:p>
      </dgm:t>
    </dgm:pt>
    <dgm:pt modelId="{C5FA3B21-90E1-47C7-8B81-A46774A5F007}" type="parTrans" cxnId="{8F1BC38D-86B1-484F-ABC3-6E67DE231071}">
      <dgm:prSet/>
      <dgm:spPr/>
      <dgm:t>
        <a:bodyPr/>
        <a:lstStyle/>
        <a:p>
          <a:endParaRPr lang="en-US"/>
        </a:p>
      </dgm:t>
    </dgm:pt>
    <dgm:pt modelId="{B1014229-5645-430E-9F49-6F25C393197B}" type="sibTrans" cxnId="{8F1BC38D-86B1-484F-ABC3-6E67DE231071}">
      <dgm:prSet/>
      <dgm:spPr/>
      <dgm:t>
        <a:bodyPr/>
        <a:lstStyle/>
        <a:p>
          <a:endParaRPr lang="en-US"/>
        </a:p>
      </dgm:t>
    </dgm:pt>
    <dgm:pt modelId="{A4229964-C959-4A18-847A-A0E6E11B31CC}">
      <dgm:prSet/>
      <dgm:spPr/>
      <dgm:t>
        <a:bodyPr/>
        <a:lstStyle/>
        <a:p>
          <a:pPr>
            <a:buNone/>
          </a:pPr>
          <a:r>
            <a:rPr lang="en-US"/>
            <a:t>Summarize</a:t>
          </a:r>
        </a:p>
      </dgm:t>
    </dgm:pt>
    <dgm:pt modelId="{0DFC48BF-2D8E-4EAB-8C7C-76D64B192E70}" type="parTrans" cxnId="{72F5563F-1D3C-4F80-9728-DB782A5A9BE1}">
      <dgm:prSet/>
      <dgm:spPr/>
      <dgm:t>
        <a:bodyPr/>
        <a:lstStyle/>
        <a:p>
          <a:endParaRPr lang="en-US"/>
        </a:p>
      </dgm:t>
    </dgm:pt>
    <dgm:pt modelId="{FD6A33F2-DFFD-4FD9-8B25-1160F65101F2}" type="sibTrans" cxnId="{72F5563F-1D3C-4F80-9728-DB782A5A9BE1}">
      <dgm:prSet/>
      <dgm:spPr/>
      <dgm:t>
        <a:bodyPr/>
        <a:lstStyle/>
        <a:p>
          <a:endParaRPr lang="en-US"/>
        </a:p>
      </dgm:t>
    </dgm:pt>
    <dgm:pt modelId="{3ED67978-236E-44AC-A50E-2B0F43EEADDA}">
      <dgm:prSet/>
      <dgm:spPr/>
      <dgm:t>
        <a:bodyPr/>
        <a:lstStyle/>
        <a:p>
          <a:pPr>
            <a:buNone/>
          </a:pPr>
          <a:r>
            <a:rPr lang="en-US"/>
            <a:t>Save</a:t>
          </a:r>
        </a:p>
      </dgm:t>
    </dgm:pt>
    <dgm:pt modelId="{AF8D7748-C52A-4654-A83F-0F3F0C6CBC46}" type="parTrans" cxnId="{9C80311B-1A26-4611-B676-A4ADB608C60C}">
      <dgm:prSet/>
      <dgm:spPr/>
      <dgm:t>
        <a:bodyPr/>
        <a:lstStyle/>
        <a:p>
          <a:endParaRPr lang="en-US"/>
        </a:p>
      </dgm:t>
    </dgm:pt>
    <dgm:pt modelId="{8BC44A47-E845-4126-8098-03303605A9AA}" type="sibTrans" cxnId="{9C80311B-1A26-4611-B676-A4ADB608C60C}">
      <dgm:prSet/>
      <dgm:spPr/>
      <dgm:t>
        <a:bodyPr/>
        <a:lstStyle/>
        <a:p>
          <a:endParaRPr lang="en-US"/>
        </a:p>
      </dgm:t>
    </dgm:pt>
    <dgm:pt modelId="{8C1062CF-2D98-465C-8895-337B225F8A46}">
      <dgm:prSet/>
      <dgm:spPr/>
      <dgm:t>
        <a:bodyPr/>
        <a:lstStyle/>
        <a:p>
          <a:pPr>
            <a:buNone/>
          </a:pPr>
          <a:r>
            <a:rPr lang="en-US" dirty="0"/>
            <a:t>Export</a:t>
          </a:r>
        </a:p>
      </dgm:t>
    </dgm:pt>
    <dgm:pt modelId="{E2279D6C-DA23-47FA-AEB9-C5D68A0956E7}" type="parTrans" cxnId="{1BCD1D4D-2EAF-4C84-A3A3-251510D515B5}">
      <dgm:prSet/>
      <dgm:spPr/>
      <dgm:t>
        <a:bodyPr/>
        <a:lstStyle/>
        <a:p>
          <a:endParaRPr lang="en-US"/>
        </a:p>
      </dgm:t>
    </dgm:pt>
    <dgm:pt modelId="{853C2C0F-81D8-4BCC-A549-4CE9FE401774}" type="sibTrans" cxnId="{1BCD1D4D-2EAF-4C84-A3A3-251510D515B5}">
      <dgm:prSet/>
      <dgm:spPr/>
      <dgm:t>
        <a:bodyPr/>
        <a:lstStyle/>
        <a:p>
          <a:endParaRPr lang="en-US" dirty="0"/>
        </a:p>
      </dgm:t>
    </dgm:pt>
    <dgm:pt modelId="{37CDA86C-122B-423A-B2CA-4707251AC353}" type="pres">
      <dgm:prSet presAssocID="{E0B71F43-2914-477D-B853-CF3DEE1103D2}" presName="Name0" presStyleCnt="0">
        <dgm:presLayoutVars>
          <dgm:dir/>
          <dgm:resizeHandles val="exact"/>
        </dgm:presLayoutVars>
      </dgm:prSet>
      <dgm:spPr/>
    </dgm:pt>
    <dgm:pt modelId="{0DDB75C2-F24D-49DE-8424-007AEE133511}" type="pres">
      <dgm:prSet presAssocID="{40E0F089-7604-4280-9C43-B9E676BED8A4}" presName="node" presStyleLbl="node1" presStyleIdx="0" presStyleCnt="5">
        <dgm:presLayoutVars>
          <dgm:bulletEnabled val="1"/>
        </dgm:presLayoutVars>
      </dgm:prSet>
      <dgm:spPr/>
    </dgm:pt>
    <dgm:pt modelId="{096BE791-68B0-46DC-A0BC-CE2B95BC8B23}" type="pres">
      <dgm:prSet presAssocID="{93C59E49-7001-4E97-94D6-24EB2208ED52}" presName="sibTrans" presStyleLbl="sibTrans2D1" presStyleIdx="0" presStyleCnt="4"/>
      <dgm:spPr/>
    </dgm:pt>
    <dgm:pt modelId="{F92D7CA0-656F-48EA-8FB7-5A4664B01477}" type="pres">
      <dgm:prSet presAssocID="{93C59E49-7001-4E97-94D6-24EB2208ED52}" presName="connectorText" presStyleLbl="sibTrans2D1" presStyleIdx="0" presStyleCnt="4"/>
      <dgm:spPr/>
    </dgm:pt>
    <dgm:pt modelId="{C00657BE-6A31-4A65-9AAD-F8B643725A16}" type="pres">
      <dgm:prSet presAssocID="{37D3AE43-C2FE-4CA3-90EE-CBB1977CB33B}" presName="node" presStyleLbl="node1" presStyleIdx="1" presStyleCnt="5">
        <dgm:presLayoutVars>
          <dgm:bulletEnabled val="1"/>
        </dgm:presLayoutVars>
      </dgm:prSet>
      <dgm:spPr/>
    </dgm:pt>
    <dgm:pt modelId="{1D54DD91-0286-4783-BD90-C363976054C2}" type="pres">
      <dgm:prSet presAssocID="{B1014229-5645-430E-9F49-6F25C393197B}" presName="sibTrans" presStyleLbl="sibTrans2D1" presStyleIdx="1" presStyleCnt="4" custScaleX="29006" custLinFactNeighborX="-76727" custLinFactNeighborY="15162"/>
      <dgm:spPr/>
    </dgm:pt>
    <dgm:pt modelId="{4297BE59-52EC-4497-890B-A582BDD8F6E8}" type="pres">
      <dgm:prSet presAssocID="{B1014229-5645-430E-9F49-6F25C393197B}" presName="connectorText" presStyleLbl="sibTrans2D1" presStyleIdx="1" presStyleCnt="4"/>
      <dgm:spPr/>
    </dgm:pt>
    <dgm:pt modelId="{DC512AE4-1F1D-4051-BFA6-297B1B397F0C}" type="pres">
      <dgm:prSet presAssocID="{8C1062CF-2D98-465C-8895-337B225F8A46}" presName="node" presStyleLbl="node1" presStyleIdx="2" presStyleCnt="5" custLinFactX="85448" custLinFactNeighborX="100000" custLinFactNeighborY="0">
        <dgm:presLayoutVars>
          <dgm:bulletEnabled val="1"/>
        </dgm:presLayoutVars>
      </dgm:prSet>
      <dgm:spPr/>
    </dgm:pt>
    <dgm:pt modelId="{95AD826B-8438-49DB-8B2B-C7CA9F1EE8FD}" type="pres">
      <dgm:prSet presAssocID="{853C2C0F-81D8-4BCC-A549-4CE9FE401774}" presName="sibTrans" presStyleLbl="sibTrans2D1" presStyleIdx="2" presStyleCnt="4" custLinFactNeighborX="-23893" custLinFactNeighborY="3503"/>
      <dgm:spPr/>
    </dgm:pt>
    <dgm:pt modelId="{1F326687-F7E9-45DB-8B8E-93B5EEA45FBE}" type="pres">
      <dgm:prSet presAssocID="{853C2C0F-81D8-4BCC-A549-4CE9FE401774}" presName="connectorText" presStyleLbl="sibTrans2D1" presStyleIdx="2" presStyleCnt="4"/>
      <dgm:spPr/>
    </dgm:pt>
    <dgm:pt modelId="{05678EB8-394D-4DE0-AAF4-568616B680AA}" type="pres">
      <dgm:prSet presAssocID="{3ED67978-236E-44AC-A50E-2B0F43EEADDA}" presName="node" presStyleLbl="node1" presStyleIdx="3" presStyleCnt="5" custLinFactNeighborX="67551" custLinFactNeighborY="2896">
        <dgm:presLayoutVars>
          <dgm:bulletEnabled val="1"/>
        </dgm:presLayoutVars>
      </dgm:prSet>
      <dgm:spPr/>
    </dgm:pt>
    <dgm:pt modelId="{3AA739A0-B7BB-4EED-B7E5-5E412293A3DE}" type="pres">
      <dgm:prSet presAssocID="{8BC44A47-E845-4126-8098-03303605A9AA}" presName="sibTrans" presStyleLbl="sibTrans2D1" presStyleIdx="3" presStyleCnt="4" custFlipVert="0" custFlipHor="1" custScaleX="20941" custScaleY="126094" custLinFactNeighborX="-74629" custLinFactNeighborY="-11145"/>
      <dgm:spPr/>
    </dgm:pt>
    <dgm:pt modelId="{A7AD2F26-5A90-4039-A37A-DC9A3ADA4386}" type="pres">
      <dgm:prSet presAssocID="{8BC44A47-E845-4126-8098-03303605A9AA}" presName="connectorText" presStyleLbl="sibTrans2D1" presStyleIdx="3" presStyleCnt="4"/>
      <dgm:spPr/>
    </dgm:pt>
    <dgm:pt modelId="{C0E963FE-8FC1-48E9-99AA-E45A58D2FC5B}" type="pres">
      <dgm:prSet presAssocID="{A4229964-C959-4A18-847A-A0E6E11B31CC}" presName="node" presStyleLbl="node1" presStyleIdx="4" presStyleCnt="5" custLinFactX="-94054" custLinFactNeighborX="-100000" custLinFactNeighborY="9940">
        <dgm:presLayoutVars>
          <dgm:bulletEnabled val="1"/>
        </dgm:presLayoutVars>
      </dgm:prSet>
      <dgm:spPr/>
    </dgm:pt>
  </dgm:ptLst>
  <dgm:cxnLst>
    <dgm:cxn modelId="{9C80311B-1A26-4611-B676-A4ADB608C60C}" srcId="{E0B71F43-2914-477D-B853-CF3DEE1103D2}" destId="{3ED67978-236E-44AC-A50E-2B0F43EEADDA}" srcOrd="3" destOrd="0" parTransId="{AF8D7748-C52A-4654-A83F-0F3F0C6CBC46}" sibTransId="{8BC44A47-E845-4126-8098-03303605A9AA}"/>
    <dgm:cxn modelId="{4ADE021D-3038-4BB0-A034-0E8DBFFE3F55}" type="presOf" srcId="{40E0F089-7604-4280-9C43-B9E676BED8A4}" destId="{0DDB75C2-F24D-49DE-8424-007AEE133511}" srcOrd="0" destOrd="0" presId="urn:microsoft.com/office/officeart/2005/8/layout/process1"/>
    <dgm:cxn modelId="{9425711D-0867-4239-9B94-BFF1DA05FF27}" type="presOf" srcId="{93C59E49-7001-4E97-94D6-24EB2208ED52}" destId="{F92D7CA0-656F-48EA-8FB7-5A4664B01477}" srcOrd="1" destOrd="0" presId="urn:microsoft.com/office/officeart/2005/8/layout/process1"/>
    <dgm:cxn modelId="{72F5563F-1D3C-4F80-9728-DB782A5A9BE1}" srcId="{E0B71F43-2914-477D-B853-CF3DEE1103D2}" destId="{A4229964-C959-4A18-847A-A0E6E11B31CC}" srcOrd="4" destOrd="0" parTransId="{0DFC48BF-2D8E-4EAB-8C7C-76D64B192E70}" sibTransId="{FD6A33F2-DFFD-4FD9-8B25-1160F65101F2}"/>
    <dgm:cxn modelId="{DB7FC561-4F39-4EEB-A4D0-923A6E667ABA}" type="presOf" srcId="{B1014229-5645-430E-9F49-6F25C393197B}" destId="{1D54DD91-0286-4783-BD90-C363976054C2}" srcOrd="0" destOrd="0" presId="urn:microsoft.com/office/officeart/2005/8/layout/process1"/>
    <dgm:cxn modelId="{FF6B2C47-3C57-488D-9DAF-77867ECCA063}" type="presOf" srcId="{A4229964-C959-4A18-847A-A0E6E11B31CC}" destId="{C0E963FE-8FC1-48E9-99AA-E45A58D2FC5B}" srcOrd="0" destOrd="0" presId="urn:microsoft.com/office/officeart/2005/8/layout/process1"/>
    <dgm:cxn modelId="{1BCD1D4D-2EAF-4C84-A3A3-251510D515B5}" srcId="{E0B71F43-2914-477D-B853-CF3DEE1103D2}" destId="{8C1062CF-2D98-465C-8895-337B225F8A46}" srcOrd="2" destOrd="0" parTransId="{E2279D6C-DA23-47FA-AEB9-C5D68A0956E7}" sibTransId="{853C2C0F-81D8-4BCC-A549-4CE9FE401774}"/>
    <dgm:cxn modelId="{C1DA7357-46E3-44EB-94AA-56B8702D6A42}" type="presOf" srcId="{E0B71F43-2914-477D-B853-CF3DEE1103D2}" destId="{37CDA86C-122B-423A-B2CA-4707251AC353}" srcOrd="0" destOrd="0" presId="urn:microsoft.com/office/officeart/2005/8/layout/process1"/>
    <dgm:cxn modelId="{EE75EE79-C1AF-43C6-B1E2-641075D972DF}" type="presOf" srcId="{853C2C0F-81D8-4BCC-A549-4CE9FE401774}" destId="{1F326687-F7E9-45DB-8B8E-93B5EEA45FBE}" srcOrd="1" destOrd="0" presId="urn:microsoft.com/office/officeart/2005/8/layout/process1"/>
    <dgm:cxn modelId="{575B1F7F-74C4-4747-B5E2-DEFB7E120FC5}" type="presOf" srcId="{8BC44A47-E845-4126-8098-03303605A9AA}" destId="{A7AD2F26-5A90-4039-A37A-DC9A3ADA4386}" srcOrd="1" destOrd="0" presId="urn:microsoft.com/office/officeart/2005/8/layout/process1"/>
    <dgm:cxn modelId="{C1025A8A-D2CA-4BEB-AA62-1DE74BE7950E}" type="presOf" srcId="{37D3AE43-C2FE-4CA3-90EE-CBB1977CB33B}" destId="{C00657BE-6A31-4A65-9AAD-F8B643725A16}" srcOrd="0" destOrd="0" presId="urn:microsoft.com/office/officeart/2005/8/layout/process1"/>
    <dgm:cxn modelId="{49875C8C-CC31-429D-8066-8EBCB6EEF20B}" type="presOf" srcId="{8C1062CF-2D98-465C-8895-337B225F8A46}" destId="{DC512AE4-1F1D-4051-BFA6-297B1B397F0C}" srcOrd="0" destOrd="0" presId="urn:microsoft.com/office/officeart/2005/8/layout/process1"/>
    <dgm:cxn modelId="{8F1BC38D-86B1-484F-ABC3-6E67DE231071}" srcId="{E0B71F43-2914-477D-B853-CF3DEE1103D2}" destId="{37D3AE43-C2FE-4CA3-90EE-CBB1977CB33B}" srcOrd="1" destOrd="0" parTransId="{C5FA3B21-90E1-47C7-8B81-A46774A5F007}" sibTransId="{B1014229-5645-430E-9F49-6F25C393197B}"/>
    <dgm:cxn modelId="{D2FE91A4-F14C-4042-AC04-7A145685D906}" type="presOf" srcId="{93C59E49-7001-4E97-94D6-24EB2208ED52}" destId="{096BE791-68B0-46DC-A0BC-CE2B95BC8B23}" srcOrd="0" destOrd="0" presId="urn:microsoft.com/office/officeart/2005/8/layout/process1"/>
    <dgm:cxn modelId="{E9ACBFC3-1C07-4CE7-B387-93B1E3971847}" srcId="{E0B71F43-2914-477D-B853-CF3DEE1103D2}" destId="{40E0F089-7604-4280-9C43-B9E676BED8A4}" srcOrd="0" destOrd="0" parTransId="{340F5D0F-98C9-4A9B-89B0-B1A8BC8F32A6}" sibTransId="{93C59E49-7001-4E97-94D6-24EB2208ED52}"/>
    <dgm:cxn modelId="{4FA1C0D9-E938-4209-894A-7E8961ECC7B8}" type="presOf" srcId="{3ED67978-236E-44AC-A50E-2B0F43EEADDA}" destId="{05678EB8-394D-4DE0-AAF4-568616B680AA}" srcOrd="0" destOrd="0" presId="urn:microsoft.com/office/officeart/2005/8/layout/process1"/>
    <dgm:cxn modelId="{4C5D90E1-EA0E-40C7-8913-E849D9627865}" type="presOf" srcId="{B1014229-5645-430E-9F49-6F25C393197B}" destId="{4297BE59-52EC-4497-890B-A582BDD8F6E8}" srcOrd="1" destOrd="0" presId="urn:microsoft.com/office/officeart/2005/8/layout/process1"/>
    <dgm:cxn modelId="{76EA7CE8-75E7-40D4-991A-D8438D61B045}" type="presOf" srcId="{8BC44A47-E845-4126-8098-03303605A9AA}" destId="{3AA739A0-B7BB-4EED-B7E5-5E412293A3DE}" srcOrd="0" destOrd="0" presId="urn:microsoft.com/office/officeart/2005/8/layout/process1"/>
    <dgm:cxn modelId="{7D04F0F2-AE4D-44D9-BBB5-259658C947D9}" type="presOf" srcId="{853C2C0F-81D8-4BCC-A549-4CE9FE401774}" destId="{95AD826B-8438-49DB-8B2B-C7CA9F1EE8FD}" srcOrd="0" destOrd="0" presId="urn:microsoft.com/office/officeart/2005/8/layout/process1"/>
    <dgm:cxn modelId="{C08FFA50-84D6-4333-B476-856A0223FE16}" type="presParOf" srcId="{37CDA86C-122B-423A-B2CA-4707251AC353}" destId="{0DDB75C2-F24D-49DE-8424-007AEE133511}" srcOrd="0" destOrd="0" presId="urn:microsoft.com/office/officeart/2005/8/layout/process1"/>
    <dgm:cxn modelId="{9AB63B96-A46A-4E4C-B21A-17ADFBDC5C8B}" type="presParOf" srcId="{37CDA86C-122B-423A-B2CA-4707251AC353}" destId="{096BE791-68B0-46DC-A0BC-CE2B95BC8B23}" srcOrd="1" destOrd="0" presId="urn:microsoft.com/office/officeart/2005/8/layout/process1"/>
    <dgm:cxn modelId="{BCF49EC2-A2B3-4750-8B2C-35EEF492A297}" type="presParOf" srcId="{096BE791-68B0-46DC-A0BC-CE2B95BC8B23}" destId="{F92D7CA0-656F-48EA-8FB7-5A4664B01477}" srcOrd="0" destOrd="0" presId="urn:microsoft.com/office/officeart/2005/8/layout/process1"/>
    <dgm:cxn modelId="{A9E6D5F0-BF94-4DF4-9506-1ABC573BFD91}" type="presParOf" srcId="{37CDA86C-122B-423A-B2CA-4707251AC353}" destId="{C00657BE-6A31-4A65-9AAD-F8B643725A16}" srcOrd="2" destOrd="0" presId="urn:microsoft.com/office/officeart/2005/8/layout/process1"/>
    <dgm:cxn modelId="{7B7F92B5-01B5-41CE-87D8-38BDE55CCDF5}" type="presParOf" srcId="{37CDA86C-122B-423A-B2CA-4707251AC353}" destId="{1D54DD91-0286-4783-BD90-C363976054C2}" srcOrd="3" destOrd="0" presId="urn:microsoft.com/office/officeart/2005/8/layout/process1"/>
    <dgm:cxn modelId="{7320E8D3-4798-4C48-A84D-93D34E1F0572}" type="presParOf" srcId="{1D54DD91-0286-4783-BD90-C363976054C2}" destId="{4297BE59-52EC-4497-890B-A582BDD8F6E8}" srcOrd="0" destOrd="0" presId="urn:microsoft.com/office/officeart/2005/8/layout/process1"/>
    <dgm:cxn modelId="{421417A1-5941-45AB-9420-73FCA5FF1AF4}" type="presParOf" srcId="{37CDA86C-122B-423A-B2CA-4707251AC353}" destId="{DC512AE4-1F1D-4051-BFA6-297B1B397F0C}" srcOrd="4" destOrd="0" presId="urn:microsoft.com/office/officeart/2005/8/layout/process1"/>
    <dgm:cxn modelId="{790E5BA2-F7AB-4718-9172-AFD04AAF058F}" type="presParOf" srcId="{37CDA86C-122B-423A-B2CA-4707251AC353}" destId="{95AD826B-8438-49DB-8B2B-C7CA9F1EE8FD}" srcOrd="5" destOrd="0" presId="urn:microsoft.com/office/officeart/2005/8/layout/process1"/>
    <dgm:cxn modelId="{4C1117F1-6BE1-43BE-8209-AD71AC9C8853}" type="presParOf" srcId="{95AD826B-8438-49DB-8B2B-C7CA9F1EE8FD}" destId="{1F326687-F7E9-45DB-8B8E-93B5EEA45FBE}" srcOrd="0" destOrd="0" presId="urn:microsoft.com/office/officeart/2005/8/layout/process1"/>
    <dgm:cxn modelId="{965F9885-B29D-42C8-BBA6-47F4AE09D160}" type="presParOf" srcId="{37CDA86C-122B-423A-B2CA-4707251AC353}" destId="{05678EB8-394D-4DE0-AAF4-568616B680AA}" srcOrd="6" destOrd="0" presId="urn:microsoft.com/office/officeart/2005/8/layout/process1"/>
    <dgm:cxn modelId="{6CEEDE5F-6F71-4415-9AB8-60E9492F0F82}" type="presParOf" srcId="{37CDA86C-122B-423A-B2CA-4707251AC353}" destId="{3AA739A0-B7BB-4EED-B7E5-5E412293A3DE}" srcOrd="7" destOrd="0" presId="urn:microsoft.com/office/officeart/2005/8/layout/process1"/>
    <dgm:cxn modelId="{4B111054-C190-47D4-8C69-BF5C9E485E4B}" type="presParOf" srcId="{3AA739A0-B7BB-4EED-B7E5-5E412293A3DE}" destId="{A7AD2F26-5A90-4039-A37A-DC9A3ADA4386}" srcOrd="0" destOrd="0" presId="urn:microsoft.com/office/officeart/2005/8/layout/process1"/>
    <dgm:cxn modelId="{4F5C7D91-8EA0-4405-AE42-715CCC9F889A}" type="presParOf" srcId="{37CDA86C-122B-423A-B2CA-4707251AC353}" destId="{C0E963FE-8FC1-48E9-99AA-E45A58D2FC5B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DB75C2-F24D-49DE-8424-007AEE133511}">
      <dsp:nvSpPr>
        <dsp:cNvPr id="0" name=""/>
        <dsp:cNvSpPr/>
      </dsp:nvSpPr>
      <dsp:spPr>
        <a:xfrm>
          <a:off x="5224" y="1612640"/>
          <a:ext cx="1619517" cy="9717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One application</a:t>
          </a:r>
        </a:p>
      </dsp:txBody>
      <dsp:txXfrm>
        <a:off x="33684" y="1641100"/>
        <a:ext cx="1562597" cy="914790"/>
      </dsp:txXfrm>
    </dsp:sp>
    <dsp:sp modelId="{096BE791-68B0-46DC-A0BC-CE2B95BC8B23}">
      <dsp:nvSpPr>
        <dsp:cNvPr id="0" name=""/>
        <dsp:cNvSpPr/>
      </dsp:nvSpPr>
      <dsp:spPr>
        <a:xfrm>
          <a:off x="1786693" y="1897675"/>
          <a:ext cx="343337" cy="40164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1786693" y="1978003"/>
        <a:ext cx="240336" cy="240984"/>
      </dsp:txXfrm>
    </dsp:sp>
    <dsp:sp modelId="{C00657BE-6A31-4A65-9AAD-F8B643725A16}">
      <dsp:nvSpPr>
        <dsp:cNvPr id="0" name=""/>
        <dsp:cNvSpPr/>
      </dsp:nvSpPr>
      <dsp:spPr>
        <a:xfrm>
          <a:off x="2272548" y="1612640"/>
          <a:ext cx="1619517" cy="9717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Search </a:t>
          </a:r>
        </a:p>
      </dsp:txBody>
      <dsp:txXfrm>
        <a:off x="2301008" y="1641100"/>
        <a:ext cx="1562597" cy="914790"/>
      </dsp:txXfrm>
    </dsp:sp>
    <dsp:sp modelId="{1D54DD91-0286-4783-BD90-C363976054C2}">
      <dsp:nvSpPr>
        <dsp:cNvPr id="0" name=""/>
        <dsp:cNvSpPr/>
      </dsp:nvSpPr>
      <dsp:spPr>
        <a:xfrm>
          <a:off x="3976417" y="1958572"/>
          <a:ext cx="411918" cy="40164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976417" y="2038900"/>
        <a:ext cx="291426" cy="240984"/>
      </dsp:txXfrm>
    </dsp:sp>
    <dsp:sp modelId="{DC512AE4-1F1D-4051-BFA6-297B1B397F0C}">
      <dsp:nvSpPr>
        <dsp:cNvPr id="0" name=""/>
        <dsp:cNvSpPr/>
      </dsp:nvSpPr>
      <dsp:spPr>
        <a:xfrm>
          <a:off x="6571524" y="1612640"/>
          <a:ext cx="1619517" cy="9717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Export</a:t>
          </a:r>
        </a:p>
      </dsp:txBody>
      <dsp:txXfrm>
        <a:off x="6599984" y="1641100"/>
        <a:ext cx="1562597" cy="914790"/>
      </dsp:txXfrm>
    </dsp:sp>
    <dsp:sp modelId="{95AD826B-8438-49DB-8B2B-C7CA9F1EE8FD}">
      <dsp:nvSpPr>
        <dsp:cNvPr id="0" name=""/>
        <dsp:cNvSpPr/>
      </dsp:nvSpPr>
      <dsp:spPr>
        <a:xfrm rot="41601">
          <a:off x="8278098" y="1925943"/>
          <a:ext cx="374120" cy="40164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>
        <a:off x="8278102" y="2005592"/>
        <a:ext cx="261884" cy="240984"/>
      </dsp:txXfrm>
    </dsp:sp>
    <dsp:sp modelId="{05678EB8-394D-4DE0-AAF4-568616B680AA}">
      <dsp:nvSpPr>
        <dsp:cNvPr id="0" name=""/>
        <dsp:cNvSpPr/>
      </dsp:nvSpPr>
      <dsp:spPr>
        <a:xfrm>
          <a:off x="8896877" y="1640781"/>
          <a:ext cx="1619517" cy="9717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Save</a:t>
          </a:r>
        </a:p>
      </dsp:txBody>
      <dsp:txXfrm>
        <a:off x="8925337" y="1669241"/>
        <a:ext cx="1562597" cy="914790"/>
      </dsp:txXfrm>
    </dsp:sp>
    <dsp:sp modelId="{3AA739A0-B7BB-4EED-B7E5-5E412293A3DE}">
      <dsp:nvSpPr>
        <dsp:cNvPr id="0" name=""/>
        <dsp:cNvSpPr/>
      </dsp:nvSpPr>
      <dsp:spPr>
        <a:xfrm rot="10853003" flipH="1">
          <a:off x="6172967" y="1863527"/>
          <a:ext cx="312970" cy="50644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6172973" y="1964092"/>
        <a:ext cx="219079" cy="303866"/>
      </dsp:txXfrm>
    </dsp:sp>
    <dsp:sp modelId="{C0E963FE-8FC1-48E9-99AA-E45A58D2FC5B}">
      <dsp:nvSpPr>
        <dsp:cNvPr id="0" name=""/>
        <dsp:cNvSpPr/>
      </dsp:nvSpPr>
      <dsp:spPr>
        <a:xfrm>
          <a:off x="4457813" y="1709228"/>
          <a:ext cx="1619517" cy="9717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Summarize</a:t>
          </a:r>
        </a:p>
      </dsp:txBody>
      <dsp:txXfrm>
        <a:off x="4486273" y="1737688"/>
        <a:ext cx="1562597" cy="9147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6954-AA1C-454C-A890-536C223AB1F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A2E5-26EA-4F91-9362-7563D08C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7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6954-AA1C-454C-A890-536C223AB1F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A2E5-26EA-4F91-9362-7563D08C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221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6954-AA1C-454C-A890-536C223AB1F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A2E5-26EA-4F91-9362-7563D08C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36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6954-AA1C-454C-A890-536C223AB1F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A2E5-26EA-4F91-9362-7563D08C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038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6954-AA1C-454C-A890-536C223AB1F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A2E5-26EA-4F91-9362-7563D08C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95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6954-AA1C-454C-A890-536C223AB1F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A2E5-26EA-4F91-9362-7563D08C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8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6954-AA1C-454C-A890-536C223AB1F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A2E5-26EA-4F91-9362-7563D08C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43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6954-AA1C-454C-A890-536C223AB1F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A2E5-26EA-4F91-9362-7563D08C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590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6954-AA1C-454C-A890-536C223AB1F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A2E5-26EA-4F91-9362-7563D08C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710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6954-AA1C-454C-A890-536C223AB1F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A2E5-26EA-4F91-9362-7563D08C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24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6954-AA1C-454C-A890-536C223AB1F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A2E5-26EA-4F91-9362-7563D08C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77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6954-AA1C-454C-A890-536C223AB1F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A2E5-26EA-4F91-9362-7563D08C691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6419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6954-AA1C-454C-A890-536C223AB1F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A2E5-26EA-4F91-9362-7563D08C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25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6954-AA1C-454C-A890-536C223AB1F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A2E5-26EA-4F91-9362-7563D08C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178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6954-AA1C-454C-A890-536C223AB1F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A2E5-26EA-4F91-9362-7563D08C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948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6954-AA1C-454C-A890-536C223AB1F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A2E5-26EA-4F91-9362-7563D08C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5888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6954-AA1C-454C-A890-536C223AB1F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A2E5-26EA-4F91-9362-7563D08C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414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1E56954-AA1C-454C-A890-536C223AB1F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3F7A2E5-26EA-4F91-9362-7563D08C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322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406C5-C5BE-B96F-54B1-DB260EF02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7794" y="801858"/>
            <a:ext cx="9038908" cy="90385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Black" panose="020B0A04020102020204" pitchFamily="34" charset="0"/>
              </a:rPr>
              <a:t>Nexthikes it solutions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B17FE8-2DC0-040D-F8F7-5A539E46A5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3898" y="3038622"/>
            <a:ext cx="9671954" cy="2419644"/>
          </a:xfrm>
        </p:spPr>
        <p:txBody>
          <a:bodyPr>
            <a:normAutofit/>
          </a:bodyPr>
          <a:lstStyle/>
          <a:p>
            <a:r>
              <a:rPr lang="en-US" sz="28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 Black" panose="020B0A04020102020204" pitchFamily="34" charset="0"/>
              </a:rPr>
              <a:t>LLM Project: Building a News Research Tool</a:t>
            </a:r>
          </a:p>
          <a:p>
            <a:endParaRPr lang="en-US" sz="2800" dirty="0"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</a:effectLst>
              <a:latin typeface="Arial Black" panose="020B0A04020102020204" pitchFamily="34" charset="0"/>
            </a:endParaRPr>
          </a:p>
          <a:p>
            <a:endParaRPr lang="en-US" sz="2800" dirty="0"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</a:effectLst>
              <a:latin typeface="Arial Black" panose="020B0A04020102020204" pitchFamily="34" charset="0"/>
            </a:endParaRPr>
          </a:p>
          <a:p>
            <a:r>
              <a:rPr lang="en-US" sz="28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 Black" panose="020B0A04020102020204" pitchFamily="34" charset="0"/>
              </a:rPr>
              <a:t> -Ankita babar</a:t>
            </a:r>
          </a:p>
        </p:txBody>
      </p:sp>
    </p:spTree>
    <p:extLst>
      <p:ext uri="{BB962C8B-B14F-4D97-AF65-F5344CB8AC3E}">
        <p14:creationId xmlns:p14="http://schemas.microsoft.com/office/powerpoint/2010/main" val="2853442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98938-E75A-5AB8-87D9-7E956970D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535" y="534573"/>
            <a:ext cx="4332850" cy="931086"/>
          </a:xfrm>
        </p:spPr>
        <p:txBody>
          <a:bodyPr>
            <a:normAutofit/>
          </a:bodyPr>
          <a:lstStyle/>
          <a:p>
            <a:r>
              <a:rPr lang="en-US" b="1" u="sng" dirty="0">
                <a:effectLst/>
                <a:latin typeface="Arial Narrow" panose="020B0606020202030204" pitchFamily="34" charset="0"/>
              </a:rPr>
              <a:t>Project</a:t>
            </a:r>
            <a:r>
              <a:rPr lang="en-US" u="sng" dirty="0">
                <a:latin typeface="Arial Narrow" panose="020B0606020202030204" pitchFamily="34" charset="0"/>
              </a:rPr>
              <a:t> </a:t>
            </a:r>
            <a:r>
              <a:rPr lang="en-US" b="1" u="sng" dirty="0">
                <a:effectLst/>
                <a:latin typeface="Arial Narrow" panose="020B0606020202030204" pitchFamily="34" charset="0"/>
              </a:rPr>
              <a:t>Overview</a:t>
            </a:r>
            <a:r>
              <a:rPr lang="en-US" u="sng" dirty="0">
                <a:latin typeface="Arial Narrow" panose="020B0606020202030204" pitchFamily="34" charset="0"/>
              </a:rPr>
              <a:t> 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7D598-17B9-0868-75BC-6A60423B9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81666" y="2138289"/>
            <a:ext cx="9590550" cy="3615397"/>
          </a:xfrm>
        </p:spPr>
        <p:txBody>
          <a:bodyPr>
            <a:normAutofit/>
          </a:bodyPr>
          <a:lstStyle/>
          <a:p>
            <a:pPr marL="342900" indent="-342900" algn="l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A web-based application for searching latest news.</a:t>
            </a:r>
          </a:p>
          <a:p>
            <a:pPr marL="342900" indent="-342900" algn="l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 Fetches real-time articles using </a:t>
            </a:r>
            <a:r>
              <a:rPr lang="en-US" sz="2400" b="1" dirty="0"/>
              <a:t>News API</a:t>
            </a:r>
            <a:r>
              <a:rPr lang="en-US" sz="2400" dirty="0"/>
              <a:t>.</a:t>
            </a:r>
          </a:p>
          <a:p>
            <a:pPr marL="342900" indent="-342900" algn="l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 Displays article title, source, date and image.</a:t>
            </a:r>
          </a:p>
          <a:p>
            <a:pPr marL="342900" indent="-342900" algn="l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 Provides quick article summaries.</a:t>
            </a:r>
          </a:p>
          <a:p>
            <a:pPr marL="342900" indent="-342900" algn="l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 Offers search history, saved articles and export options</a:t>
            </a:r>
          </a:p>
          <a:p>
            <a:pPr marL="342900" indent="-342900" algn="l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b="1" dirty="0"/>
              <a:t>Main Goal:</a:t>
            </a:r>
            <a:br>
              <a:rPr lang="en-US" sz="2400" dirty="0"/>
            </a:br>
            <a:r>
              <a:rPr lang="en-US" sz="2400" b="1" dirty="0"/>
              <a:t>Make news research faster, simpler and more organized.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70384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1E3E1-32F1-1BDF-35FA-38032734E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" y="112542"/>
            <a:ext cx="5413619" cy="1015492"/>
          </a:xfrm>
        </p:spPr>
        <p:txBody>
          <a:bodyPr/>
          <a:lstStyle/>
          <a:p>
            <a:r>
              <a:rPr lang="en-US" b="1" u="sng" dirty="0">
                <a:latin typeface="Arial Narrow" panose="020B0606020202030204" pitchFamily="34" charset="0"/>
              </a:rPr>
              <a:t>Problem Statement:-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FF31D-82C9-E2D7-A439-9831D1D3B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55056" y="1871003"/>
            <a:ext cx="9590550" cy="4389120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400" b="1" dirty="0">
                <a:latin typeface="Arial Narrow" panose="020B0606020202030204" pitchFamily="34" charset="0"/>
              </a:rPr>
              <a:t>Problem Statement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Finding and understanding news from multiple sources can be time-consuming.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400" b="1" dirty="0">
                <a:latin typeface="Arial Narrow" panose="020B0606020202030204" pitchFamily="34" charset="0"/>
              </a:rPr>
              <a:t>Major Problems:</a:t>
            </a:r>
            <a:endParaRPr lang="en-US" sz="2400" dirty="0">
              <a:latin typeface="Arial Narrow" panose="020B0606020202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Too many news sources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Long articles require more reading time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Difficult to track previous searches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Important articles may be lost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No simple research-focused interface</a:t>
            </a:r>
          </a:p>
          <a:p>
            <a:pPr algn="l"/>
            <a:endParaRPr lang="en-US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550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476A-BC7B-FAAF-BD46-FD7C8B375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235" y="576776"/>
            <a:ext cx="3417276" cy="762274"/>
          </a:xfrm>
        </p:spPr>
        <p:txBody>
          <a:bodyPr/>
          <a:lstStyle/>
          <a:p>
            <a:r>
              <a:rPr lang="en-US" b="1" u="sng" dirty="0">
                <a:effectLst/>
                <a:latin typeface="Arial Narrow" panose="020B0606020202030204" pitchFamily="34" charset="0"/>
              </a:rPr>
              <a:t>Our Solution:-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CA632DB-5205-9AE1-A85E-9B5422406F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7707712"/>
              </p:ext>
            </p:extLst>
          </p:nvPr>
        </p:nvGraphicFramePr>
        <p:xfrm>
          <a:off x="746369" y="1631852"/>
          <a:ext cx="10699262" cy="4196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0418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4E18C-84FA-C396-28A2-E2A54B5A4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19" y="562708"/>
            <a:ext cx="3783036" cy="832612"/>
          </a:xfrm>
        </p:spPr>
        <p:txBody>
          <a:bodyPr/>
          <a:lstStyle/>
          <a:p>
            <a:r>
              <a:rPr lang="en-US" b="1" u="sng" dirty="0">
                <a:latin typeface="Arial Narrow" panose="020B0606020202030204" pitchFamily="34" charset="0"/>
              </a:rPr>
              <a:t>Objectives:-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E7FC1-B671-1286-E2D7-3A646C1DC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2343" y="2067951"/>
            <a:ext cx="9590550" cy="4086664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400" b="1" dirty="0">
                <a:latin typeface="Arial Narrow" panose="020B0606020202030204" pitchFamily="34" charset="0"/>
              </a:rPr>
              <a:t>Project Objectives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Search news by any topic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 Fetch latest articles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 Generate concise summaries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 Restrict access using authentication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 Save useful articles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 Export summaries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 Maintain search history</a:t>
            </a:r>
          </a:p>
          <a:p>
            <a:pPr algn="l"/>
            <a:endParaRPr lang="en-US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400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4BA39-8610-DAFA-D5CB-C983B7142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8922"/>
            <a:ext cx="5528603" cy="970450"/>
          </a:xfrm>
        </p:spPr>
        <p:txBody>
          <a:bodyPr/>
          <a:lstStyle/>
          <a:p>
            <a:r>
              <a:rPr lang="en-US" b="1" u="sng" dirty="0">
                <a:latin typeface="Arial Narrow" panose="020B0606020202030204" pitchFamily="34" charset="0"/>
              </a:rPr>
              <a:t>Technologies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b="1" u="sng" dirty="0">
                <a:latin typeface="Arial Narrow" panose="020B0606020202030204" pitchFamily="34" charset="0"/>
              </a:rPr>
              <a:t>Used :-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866913-6EDB-CF0A-ECC6-B092C59DF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00815"/>
              </p:ext>
            </p:extLst>
          </p:nvPr>
        </p:nvGraphicFramePr>
        <p:xfrm>
          <a:off x="919163" y="2340744"/>
          <a:ext cx="10353674" cy="30175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76837">
                  <a:extLst>
                    <a:ext uri="{9D8B030D-6E8A-4147-A177-3AD203B41FA5}">
                      <a16:colId xmlns:a16="http://schemas.microsoft.com/office/drawing/2014/main" val="1627236035"/>
                    </a:ext>
                  </a:extLst>
                </a:gridCol>
                <a:gridCol w="5176837">
                  <a:extLst>
                    <a:ext uri="{9D8B030D-6E8A-4147-A177-3AD203B41FA5}">
                      <a16:colId xmlns:a16="http://schemas.microsoft.com/office/drawing/2014/main" val="239004496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711202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Application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26394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Streamlit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Web interface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80222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NewsAPI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Fetch latest news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50684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 err="1"/>
                        <a:t>LangChain</a:t>
                      </a:r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AI workflow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3395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OpenAI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Summarization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55332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HTML/CSS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UI customization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22139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dotenv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API key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15220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8A30DF9-C017-9E8A-F39A-B1EB3B60AABB}"/>
              </a:ext>
            </a:extLst>
          </p:cNvPr>
          <p:cNvSpPr txBox="1"/>
          <p:nvPr/>
        </p:nvSpPr>
        <p:spPr>
          <a:xfrm>
            <a:off x="1128932" y="1659225"/>
            <a:ext cx="6112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 Narrow" panose="020B0606020202030204" pitchFamily="34" charset="0"/>
              </a:rPr>
              <a:t>Technology Stack</a:t>
            </a:r>
          </a:p>
        </p:txBody>
      </p:sp>
    </p:spTree>
    <p:extLst>
      <p:ext uri="{BB962C8B-B14F-4D97-AF65-F5344CB8AC3E}">
        <p14:creationId xmlns:p14="http://schemas.microsoft.com/office/powerpoint/2010/main" val="3885092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9CE14-56EF-161C-A8C8-E15EE1805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474" y="548639"/>
            <a:ext cx="5757202" cy="902951"/>
          </a:xfrm>
        </p:spPr>
        <p:txBody>
          <a:bodyPr/>
          <a:lstStyle/>
          <a:p>
            <a:r>
              <a:rPr lang="en-US" b="1" u="sng" dirty="0"/>
              <a:t>Application Workflow:-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0C6E4-7F0C-4DA7-B401-DDE70192D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1" y="2194560"/>
            <a:ext cx="9590550" cy="3277772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latin typeface="Arial Narrow" panose="020B0606020202030204" pitchFamily="34" charset="0"/>
              </a:rPr>
              <a:t>How the System Works</a:t>
            </a:r>
          </a:p>
          <a:p>
            <a:pPr algn="l"/>
            <a:r>
              <a:rPr lang="en-US" sz="2400" b="1" dirty="0">
                <a:latin typeface="Arial Narrow" panose="020B0606020202030204" pitchFamily="34" charset="0"/>
              </a:rPr>
              <a:t>1. Login</a:t>
            </a:r>
            <a:r>
              <a:rPr lang="en-US" sz="2400" dirty="0">
                <a:latin typeface="Arial Narrow" panose="020B0606020202030204" pitchFamily="34" charset="0"/>
              </a:rPr>
              <a:t> → User authentication</a:t>
            </a:r>
            <a:br>
              <a:rPr lang="en-US" sz="2400" dirty="0">
                <a:latin typeface="Arial Narrow" panose="020B0606020202030204" pitchFamily="34" charset="0"/>
              </a:rPr>
            </a:br>
            <a:r>
              <a:rPr lang="en-US" sz="2400" b="1" dirty="0">
                <a:latin typeface="Arial Narrow" panose="020B0606020202030204" pitchFamily="34" charset="0"/>
              </a:rPr>
              <a:t>2. Search</a:t>
            </a:r>
            <a:r>
              <a:rPr lang="en-US" sz="2400" dirty="0">
                <a:latin typeface="Arial Narrow" panose="020B0606020202030204" pitchFamily="34" charset="0"/>
              </a:rPr>
              <a:t> → Enter any news topic</a:t>
            </a:r>
            <a:br>
              <a:rPr lang="en-US" sz="2400" dirty="0">
                <a:latin typeface="Arial Narrow" panose="020B0606020202030204" pitchFamily="34" charset="0"/>
              </a:rPr>
            </a:br>
            <a:r>
              <a:rPr lang="en-US" sz="2400" b="1" dirty="0">
                <a:latin typeface="Arial Narrow" panose="020B0606020202030204" pitchFamily="34" charset="0"/>
              </a:rPr>
              <a:t>3. Fetch</a:t>
            </a:r>
            <a:r>
              <a:rPr lang="en-US" sz="2400" dirty="0">
                <a:latin typeface="Arial Narrow" panose="020B0606020202030204" pitchFamily="34" charset="0"/>
              </a:rPr>
              <a:t> → NewsAPI retrieves articles</a:t>
            </a:r>
            <a:br>
              <a:rPr lang="en-US" sz="2400" dirty="0">
                <a:latin typeface="Arial Narrow" panose="020B0606020202030204" pitchFamily="34" charset="0"/>
              </a:rPr>
            </a:br>
            <a:r>
              <a:rPr lang="en-US" sz="2400" b="1" dirty="0">
                <a:latin typeface="Arial Narrow" panose="020B0606020202030204" pitchFamily="34" charset="0"/>
              </a:rPr>
              <a:t>4. Process</a:t>
            </a:r>
            <a:r>
              <a:rPr lang="en-US" sz="2400" dirty="0">
                <a:latin typeface="Arial Narrow" panose="020B0606020202030204" pitchFamily="34" charset="0"/>
              </a:rPr>
              <a:t> → Articles are processed</a:t>
            </a:r>
            <a:br>
              <a:rPr lang="en-US" sz="2400" dirty="0">
                <a:latin typeface="Arial Narrow" panose="020B0606020202030204" pitchFamily="34" charset="0"/>
              </a:rPr>
            </a:br>
            <a:r>
              <a:rPr lang="en-US" sz="2400" b="1" dirty="0">
                <a:latin typeface="Arial Narrow" panose="020B0606020202030204" pitchFamily="34" charset="0"/>
              </a:rPr>
              <a:t>5. Summarize</a:t>
            </a:r>
            <a:r>
              <a:rPr lang="en-US" sz="2400" dirty="0">
                <a:latin typeface="Arial Narrow" panose="020B0606020202030204" pitchFamily="34" charset="0"/>
              </a:rPr>
              <a:t> → Short summary is generated</a:t>
            </a:r>
            <a:br>
              <a:rPr lang="en-US" sz="2400" dirty="0">
                <a:latin typeface="Arial Narrow" panose="020B0606020202030204" pitchFamily="34" charset="0"/>
              </a:rPr>
            </a:br>
            <a:r>
              <a:rPr lang="en-US" sz="2400" b="1" dirty="0">
                <a:latin typeface="Arial Narrow" panose="020B0606020202030204" pitchFamily="34" charset="0"/>
              </a:rPr>
              <a:t>6. Display</a:t>
            </a:r>
            <a:r>
              <a:rPr lang="en-US" sz="2400" dirty="0">
                <a:latin typeface="Arial Narrow" panose="020B0606020202030204" pitchFamily="34" charset="0"/>
              </a:rPr>
              <a:t> → News shown in cards</a:t>
            </a:r>
            <a:br>
              <a:rPr lang="en-US" sz="2400" dirty="0">
                <a:latin typeface="Arial Narrow" panose="020B0606020202030204" pitchFamily="34" charset="0"/>
              </a:rPr>
            </a:br>
            <a:r>
              <a:rPr lang="en-US" sz="2400" b="1" dirty="0">
                <a:latin typeface="Arial Narrow" panose="020B0606020202030204" pitchFamily="34" charset="0"/>
              </a:rPr>
              <a:t>7. Save/Export</a:t>
            </a:r>
            <a:r>
              <a:rPr lang="en-US" sz="2400" dirty="0">
                <a:latin typeface="Arial Narrow" panose="020B0606020202030204" pitchFamily="34" charset="0"/>
              </a:rPr>
              <a:t> → User can save or download results</a:t>
            </a:r>
          </a:p>
          <a:p>
            <a:pPr algn="l"/>
            <a:endParaRPr lang="en-US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61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CE0D-02C6-A635-9D96-EA9E3591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7370"/>
            <a:ext cx="4896162" cy="652664"/>
          </a:xfrm>
        </p:spPr>
        <p:txBody>
          <a:bodyPr/>
          <a:lstStyle/>
          <a:p>
            <a:r>
              <a:rPr lang="en-US" b="1" u="sng" dirty="0">
                <a:latin typeface="Arial Narrow" panose="020B0606020202030204" pitchFamily="34" charset="0"/>
              </a:rPr>
              <a:t>User Authentication:-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2191A13-23EF-A2F1-352C-5330837E7C3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2" t="5927" r="24897" b="10781"/>
          <a:stretch>
            <a:fillRect/>
          </a:stretch>
        </p:blipFill>
        <p:spPr>
          <a:xfrm>
            <a:off x="6096000" y="1740931"/>
            <a:ext cx="5934950" cy="4586490"/>
          </a:xfrm>
          <a:prstGeom prst="rect">
            <a:avLst/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066ED0-E245-A3EC-BF91-6E8A4842C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050" y="2316186"/>
            <a:ext cx="5697415" cy="3435979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Secure login before accessing the application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 Username and password verification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 Logout functionality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 Restricts unauthorized access</a:t>
            </a:r>
          </a:p>
        </p:txBody>
      </p:sp>
    </p:spTree>
    <p:extLst>
      <p:ext uri="{BB962C8B-B14F-4D97-AF65-F5344CB8AC3E}">
        <p14:creationId xmlns:p14="http://schemas.microsoft.com/office/powerpoint/2010/main" val="3993421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006EF-9806-83AB-3ACB-4F4CC5EDF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323" y="389941"/>
            <a:ext cx="5086198" cy="652664"/>
          </a:xfrm>
        </p:spPr>
        <p:txBody>
          <a:bodyPr/>
          <a:lstStyle/>
          <a:p>
            <a:r>
              <a:rPr lang="en-US" b="1" u="sng" dirty="0">
                <a:latin typeface="Arial Narrow" panose="020B0606020202030204" pitchFamily="34" charset="0"/>
              </a:rPr>
              <a:t>News Search Dashboard:-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94D1D99-A198-35B7-54EE-B1EB38D435A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" t="5675" r="-642" b="4731"/>
          <a:stretch>
            <a:fillRect/>
          </a:stretch>
        </p:blipFill>
        <p:spPr>
          <a:xfrm>
            <a:off x="5753686" y="1114539"/>
            <a:ext cx="6089693" cy="4401592"/>
          </a:xfrm>
          <a:prstGeom prst="rect">
            <a:avLst/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96781-BD03-5562-D7F5-CF6468B08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7323" y="1532046"/>
            <a:ext cx="5367551" cy="3376134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2400" b="1" dirty="0">
                <a:effectLst/>
              </a:rPr>
              <a:t>News Search Dashboard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</a:rPr>
              <a:t>Search any news topic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</a:rPr>
              <a:t>Latest articles displayed instantly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</a:rPr>
              <a:t>Current topic and article count visible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</a:rPr>
              <a:t>Recent searches available for quick access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49717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F92FB-469B-1451-FF43-C5AC3CA96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322" y="454213"/>
            <a:ext cx="6394494" cy="830318"/>
          </a:xfrm>
        </p:spPr>
        <p:txBody>
          <a:bodyPr/>
          <a:lstStyle/>
          <a:p>
            <a:r>
              <a:rPr lang="en-US" b="1" u="sng" dirty="0"/>
              <a:t>Article Results &amp; Summarization:-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70EC841-F9A9-F36B-EF9B-E7EC888ED9C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" t="10600" r="-473" b="5016"/>
          <a:stretch>
            <a:fillRect/>
          </a:stretch>
        </p:blipFill>
        <p:spPr>
          <a:xfrm>
            <a:off x="4867422" y="1659663"/>
            <a:ext cx="7121324" cy="4145599"/>
          </a:xfrm>
          <a:prstGeom prst="rect">
            <a:avLst/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C33A4-0398-7FCC-9CA2-5A0FD4A28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7094" y="1788403"/>
            <a:ext cx="5934949" cy="3888121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400" b="1" dirty="0">
                <a:latin typeface="Arial Narrow" panose="020B0606020202030204" pitchFamily="34" charset="0"/>
              </a:rPr>
              <a:t>Article Results &amp; Summarization</a:t>
            </a:r>
          </a:p>
          <a:p>
            <a:pPr algn="l"/>
            <a:r>
              <a:rPr lang="en-US" sz="2400" dirty="0">
                <a:latin typeface="Arial Narrow" panose="020B0606020202030204" pitchFamily="34" charset="0"/>
              </a:rPr>
              <a:t>Each article displays: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 Article title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 Short summary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 Article image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 Source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 Publication date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Arial Narrow" panose="020B0606020202030204" pitchFamily="34" charset="0"/>
              </a:rPr>
              <a:t> Full article link</a:t>
            </a:r>
          </a:p>
          <a:p>
            <a:pPr algn="l"/>
            <a:endParaRPr lang="en-US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929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DC6C9-E727-0372-C2A8-5F64B8EAA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96" y="568562"/>
            <a:ext cx="4333454" cy="582326"/>
          </a:xfrm>
        </p:spPr>
        <p:txBody>
          <a:bodyPr/>
          <a:lstStyle/>
          <a:p>
            <a:r>
              <a:rPr lang="en-US" b="1" u="sng" dirty="0"/>
              <a:t>Extended Features:-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E052D75-C233-FD21-597C-F6A7E7EB485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" t="3927" r="102" b="6448"/>
          <a:stretch>
            <a:fillRect/>
          </a:stretch>
        </p:blipFill>
        <p:spPr>
          <a:xfrm>
            <a:off x="5444197" y="1233108"/>
            <a:ext cx="6486551" cy="4391783"/>
          </a:xfrm>
          <a:prstGeom prst="rect">
            <a:avLst/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56817-E323-4D60-322B-5E57E60FF0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2103" y="1848418"/>
            <a:ext cx="5934949" cy="3376134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latin typeface="Arial Narrow" panose="020B0606020202030204" pitchFamily="34" charset="0"/>
              </a:rPr>
              <a:t>Extended Functionality</a:t>
            </a:r>
          </a:p>
          <a:p>
            <a:pPr algn="l"/>
            <a:r>
              <a:rPr lang="en-US" sz="2000" b="1" dirty="0">
                <a:latin typeface="Arial Narrow" panose="020B0606020202030204" pitchFamily="34" charset="0"/>
              </a:rPr>
              <a:t>Save Articles</a:t>
            </a:r>
          </a:p>
          <a:p>
            <a:pPr algn="l"/>
            <a:r>
              <a:rPr lang="en-US" sz="2000" dirty="0">
                <a:latin typeface="Arial Narrow" panose="020B0606020202030204" pitchFamily="34" charset="0"/>
              </a:rPr>
              <a:t>Save important articles for later.</a:t>
            </a:r>
          </a:p>
          <a:p>
            <a:pPr algn="l"/>
            <a:r>
              <a:rPr lang="en-US" sz="2000" b="1" dirty="0">
                <a:latin typeface="Arial Narrow" panose="020B0606020202030204" pitchFamily="34" charset="0"/>
              </a:rPr>
              <a:t> Search History</a:t>
            </a:r>
          </a:p>
          <a:p>
            <a:pPr algn="l"/>
            <a:r>
              <a:rPr lang="en-US" sz="2000" dirty="0">
                <a:latin typeface="Arial Narrow" panose="020B0606020202030204" pitchFamily="34" charset="0"/>
              </a:rPr>
              <a:t>Access previously searched topics.</a:t>
            </a:r>
          </a:p>
          <a:p>
            <a:pPr algn="l"/>
            <a:r>
              <a:rPr lang="en-US" sz="2000" b="1" dirty="0">
                <a:latin typeface="Arial Narrow" panose="020B0606020202030204" pitchFamily="34" charset="0"/>
              </a:rPr>
              <a:t>Export Summaries</a:t>
            </a:r>
          </a:p>
          <a:p>
            <a:pPr algn="l"/>
            <a:r>
              <a:rPr lang="en-US" sz="2000" dirty="0">
                <a:latin typeface="Arial Narrow" panose="020B0606020202030204" pitchFamily="34" charset="0"/>
              </a:rPr>
              <a:t>Download news summaries as a text file.</a:t>
            </a:r>
          </a:p>
          <a:p>
            <a:pPr algn="l"/>
            <a:r>
              <a:rPr lang="en-US" sz="2000" b="1" dirty="0">
                <a:latin typeface="Arial Narrow" panose="020B0606020202030204" pitchFamily="34" charset="0"/>
              </a:rPr>
              <a:t> Search Statistics</a:t>
            </a:r>
          </a:p>
          <a:p>
            <a:pPr algn="l"/>
            <a:r>
              <a:rPr lang="en-US" sz="2000" dirty="0">
                <a:latin typeface="Arial Narrow" panose="020B0606020202030204" pitchFamily="34" charset="0"/>
              </a:rPr>
              <a:t>Track searches, history items and saved articles.</a:t>
            </a:r>
          </a:p>
          <a:p>
            <a:pPr algn="l"/>
            <a:endParaRPr lang="en-US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318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FE3BB-370A-FE50-4AA7-344314F3A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0844"/>
            <a:ext cx="7132320" cy="734138"/>
          </a:xfrm>
        </p:spPr>
        <p:txBody>
          <a:bodyPr>
            <a:normAutofit/>
          </a:bodyPr>
          <a:lstStyle/>
          <a:p>
            <a:r>
              <a:rPr lang="en-US" sz="3600" b="1" u="sng" dirty="0">
                <a:effectLst/>
                <a:latin typeface="Arial Narrow" panose="020B0606020202030204" pitchFamily="34" charset="0"/>
              </a:rPr>
              <a:t>How Challenges Were Overcome 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1E0F7-D545-A0F9-AA44-54B22B4BB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9685" y="1702191"/>
            <a:ext cx="7294635" cy="4262510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latin typeface="Arial Narrow" panose="020B0606020202030204" pitchFamily="34" charset="0"/>
              </a:rPr>
              <a:t>Solutions Implemented</a:t>
            </a:r>
          </a:p>
          <a:p>
            <a:pPr algn="l"/>
            <a:r>
              <a:rPr lang="en-US" b="1" dirty="0">
                <a:latin typeface="Arial Narrow" panose="020B0606020202030204" pitchFamily="34" charset="0"/>
              </a:rPr>
              <a:t>NewsAPI Issues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→ Added error handling and validation.</a:t>
            </a:r>
          </a:p>
          <a:p>
            <a:pPr algn="l"/>
            <a:r>
              <a:rPr lang="en-US" b="1" dirty="0">
                <a:latin typeface="Arial Narrow" panose="020B0606020202030204" pitchFamily="34" charset="0"/>
              </a:rPr>
              <a:t>AI/API Limitations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→ Implemented a fallback summary using article descriptions.</a:t>
            </a:r>
          </a:p>
          <a:p>
            <a:pPr algn="l"/>
            <a:r>
              <a:rPr lang="en-US" b="1" dirty="0">
                <a:latin typeface="Arial Narrow" panose="020B0606020202030204" pitchFamily="34" charset="0"/>
              </a:rPr>
              <a:t>UI Challenges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→ Used Streamlit components + custom CSS.</a:t>
            </a:r>
          </a:p>
          <a:p>
            <a:pPr algn="l"/>
            <a:r>
              <a:rPr lang="en-US" b="1" dirty="0">
                <a:latin typeface="Arial Narrow" panose="020B0606020202030204" pitchFamily="34" charset="0"/>
              </a:rPr>
              <a:t>Session Management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→ Used Streamlit session state.</a:t>
            </a:r>
          </a:p>
          <a:p>
            <a:pPr algn="l"/>
            <a:r>
              <a:rPr lang="en-US" b="1" dirty="0">
                <a:latin typeface="Arial Narrow" panose="020B0606020202030204" pitchFamily="34" charset="0"/>
              </a:rPr>
              <a:t>Search Management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→ Added recent search history.</a:t>
            </a:r>
          </a:p>
          <a:p>
            <a:pPr algn="l"/>
            <a:r>
              <a:rPr lang="en-US" b="1" dirty="0">
                <a:latin typeface="Arial Narrow" panose="020B0606020202030204" pitchFamily="34" charset="0"/>
              </a:rPr>
              <a:t>Additional Functionality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→ Added save and export features.</a:t>
            </a:r>
          </a:p>
          <a:p>
            <a:pPr algn="l"/>
            <a:endParaRPr 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256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5D440-5026-A079-F5FB-AF9A9BFF7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2992"/>
            <a:ext cx="5781822" cy="794153"/>
          </a:xfrm>
        </p:spPr>
        <p:txBody>
          <a:bodyPr>
            <a:normAutofit fontScale="90000"/>
          </a:bodyPr>
          <a:lstStyle/>
          <a:p>
            <a:r>
              <a:rPr lang="en-US" sz="3600" b="1" u="sng" dirty="0">
                <a:effectLst/>
                <a:latin typeface="Arial Narrow" panose="020B0606020202030204" pitchFamily="34" charset="0"/>
              </a:rPr>
              <a:t>Extended Features :-</a:t>
            </a:r>
            <a:br>
              <a:rPr lang="en-US" sz="3600" b="1" u="sng" dirty="0">
                <a:effectLst/>
                <a:latin typeface="Arial Narrow" panose="020B0606020202030204" pitchFamily="34" charset="0"/>
              </a:rPr>
            </a:br>
            <a:r>
              <a:rPr lang="en-US" sz="3600" b="1" u="sng" dirty="0">
                <a:effectLst/>
                <a:latin typeface="Arial Narrow" panose="020B0606020202030204" pitchFamily="34" charset="0"/>
              </a:rPr>
              <a:t>                       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43E97B-8966-623F-347F-511102DE1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35213"/>
              </p:ext>
            </p:extLst>
          </p:nvPr>
        </p:nvGraphicFramePr>
        <p:xfrm>
          <a:off x="914400" y="2180492"/>
          <a:ext cx="10353674" cy="351290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76837">
                  <a:extLst>
                    <a:ext uri="{9D8B030D-6E8A-4147-A177-3AD203B41FA5}">
                      <a16:colId xmlns:a16="http://schemas.microsoft.com/office/drawing/2014/main" val="1853029055"/>
                    </a:ext>
                  </a:extLst>
                </a:gridCol>
                <a:gridCol w="5176837">
                  <a:extLst>
                    <a:ext uri="{9D8B030D-6E8A-4147-A177-3AD203B41FA5}">
                      <a16:colId xmlns:a16="http://schemas.microsoft.com/office/drawing/2014/main" val="152291755"/>
                    </a:ext>
                  </a:extLst>
                </a:gridCol>
              </a:tblGrid>
              <a:tr h="6189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rgbClr val="C00000"/>
                          </a:solidFill>
                        </a:rPr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rgbClr val="C00000"/>
                          </a:solidFill>
                        </a:rPr>
                        <a:t>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276063"/>
                  </a:ext>
                </a:extLst>
              </a:tr>
              <a:tr h="482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NewsAPI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Fetching news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1017284"/>
                  </a:ext>
                </a:extLst>
              </a:tr>
              <a:tr h="482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API errors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Data retrieval issues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77468"/>
                  </a:ext>
                </a:extLst>
              </a:tr>
              <a:tr h="482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AI API limitations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Summarization dependency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9172986"/>
                  </a:ext>
                </a:extLst>
              </a:tr>
              <a:tr h="482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Streamlit UI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Professional presentation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0635804"/>
                  </a:ext>
                </a:extLst>
              </a:tr>
              <a:tr h="482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Session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Login &amp; history handling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725133"/>
                  </a:ext>
                </a:extLst>
              </a:tr>
              <a:tr h="482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Data persistence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Saving articles/searches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97920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98AC41-32C3-A0A3-575A-19A9A4ED3F2C}"/>
              </a:ext>
            </a:extLst>
          </p:cNvPr>
          <p:cNvSpPr txBox="1"/>
          <p:nvPr/>
        </p:nvSpPr>
        <p:spPr>
          <a:xfrm>
            <a:off x="914400" y="1497986"/>
            <a:ext cx="5482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Arial Narrow" panose="020B0606020202030204" pitchFamily="34" charset="0"/>
              </a:rPr>
              <a:t>Challenges Faced During Development</a:t>
            </a:r>
          </a:p>
        </p:txBody>
      </p:sp>
    </p:spTree>
    <p:extLst>
      <p:ext uri="{BB962C8B-B14F-4D97-AF65-F5344CB8AC3E}">
        <p14:creationId xmlns:p14="http://schemas.microsoft.com/office/powerpoint/2010/main" val="2502672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DD50-73B7-B595-82E4-2F4FA770B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57" y="323557"/>
            <a:ext cx="5246075" cy="818545"/>
          </a:xfrm>
        </p:spPr>
        <p:txBody>
          <a:bodyPr/>
          <a:lstStyle/>
          <a:p>
            <a:r>
              <a:rPr lang="en-US" b="1" u="sng" dirty="0">
                <a:latin typeface="Arial Narrow" panose="020B0606020202030204" pitchFamily="34" charset="0"/>
              </a:rPr>
              <a:t>Results &amp; Conclusion:-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258D5-9EA9-BE4F-BA3A-2D47FAC91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5927" y="1364566"/>
            <a:ext cx="11376073" cy="4986997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latin typeface="Arial Narrow" panose="020B0606020202030204" pitchFamily="34" charset="0"/>
              </a:rPr>
              <a:t>Results</a:t>
            </a:r>
          </a:p>
          <a:p>
            <a:pPr algn="l"/>
            <a:r>
              <a:rPr lang="en-US" dirty="0">
                <a:latin typeface="Arial Narrow" panose="020B0606020202030204" pitchFamily="34" charset="0"/>
              </a:rPr>
              <a:t>The application successfully provides:</a:t>
            </a:r>
          </a:p>
          <a:p>
            <a:pPr algn="l"/>
            <a:r>
              <a:rPr lang="en-US" dirty="0">
                <a:latin typeface="Arial Narrow" panose="020B0606020202030204" pitchFamily="34" charset="0"/>
              </a:rPr>
              <a:t> Secure user login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 Real-time news search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 Article summaries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 Professional Streamlit dashboard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 Recent search history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 Saved articles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 Summary export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 Full article access</a:t>
            </a:r>
          </a:p>
          <a:p>
            <a:pPr algn="l"/>
            <a:r>
              <a:rPr lang="en-US" b="1" dirty="0">
                <a:latin typeface="Arial Narrow" panose="020B0606020202030204" pitchFamily="34" charset="0"/>
              </a:rPr>
              <a:t>Conclusion</a:t>
            </a:r>
          </a:p>
          <a:p>
            <a:pPr algn="l"/>
            <a:r>
              <a:rPr lang="en-US" b="1" dirty="0">
                <a:latin typeface="Arial Narrow" panose="020B0606020202030204" pitchFamily="34" charset="0"/>
              </a:rPr>
              <a:t>News Research Tool simplifies the process of discovering, understanding and organizing news in one platform.</a:t>
            </a:r>
            <a:endParaRPr lang="en-US" dirty="0">
              <a:latin typeface="Arial Narrow" panose="020B0606020202030204" pitchFamily="34" charset="0"/>
            </a:endParaRPr>
          </a:p>
          <a:p>
            <a:pPr algn="l"/>
            <a:endParaRPr 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52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1B6E-551A-599C-1DEB-2B4A26DC4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58550"/>
            <a:ext cx="10353762" cy="970450"/>
          </a:xfrm>
        </p:spPr>
        <p:txBody>
          <a:bodyPr>
            <a:normAutofit/>
          </a:bodyPr>
          <a:lstStyle/>
          <a:p>
            <a:r>
              <a:rPr lang="en-US" sz="4400" b="1" u="sng" dirty="0">
                <a:latin typeface="Arial Narrow" panose="020B0606020202030204" pitchFamily="34" charset="0"/>
              </a:rPr>
              <a:t>Thank you !!</a:t>
            </a:r>
          </a:p>
        </p:txBody>
      </p:sp>
    </p:spTree>
    <p:extLst>
      <p:ext uri="{BB962C8B-B14F-4D97-AF65-F5344CB8AC3E}">
        <p14:creationId xmlns:p14="http://schemas.microsoft.com/office/powerpoint/2010/main" val="26720360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429</TotalTime>
  <Words>564</Words>
  <Application>Microsoft Office PowerPoint</Application>
  <PresentationFormat>Widescreen</PresentationFormat>
  <Paragraphs>118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 Black</vt:lpstr>
      <vt:lpstr>Arial Narrow</vt:lpstr>
      <vt:lpstr>Calisto MT</vt:lpstr>
      <vt:lpstr>Wingdings</vt:lpstr>
      <vt:lpstr>Wingdings 2</vt:lpstr>
      <vt:lpstr>Slate</vt:lpstr>
      <vt:lpstr>Nexthikes it solutions </vt:lpstr>
      <vt:lpstr>Project Overview :-</vt:lpstr>
      <vt:lpstr>Problem Statement:-</vt:lpstr>
      <vt:lpstr>Our Solution:-</vt:lpstr>
      <vt:lpstr>Objectives:-</vt:lpstr>
      <vt:lpstr>Technologies Used :-</vt:lpstr>
      <vt:lpstr>Application Workflow:-</vt:lpstr>
      <vt:lpstr>User Authentication:-</vt:lpstr>
      <vt:lpstr>News Search Dashboard:-</vt:lpstr>
      <vt:lpstr>Article Results &amp; Summarization:-</vt:lpstr>
      <vt:lpstr>Extended Features:-</vt:lpstr>
      <vt:lpstr>How Challenges Were Overcome :-</vt:lpstr>
      <vt:lpstr>Extended Features :-                         </vt:lpstr>
      <vt:lpstr>Results &amp; Conclusion:-</vt:lpstr>
      <vt:lpstr>Thank you 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ankita babar</dc:creator>
  <cp:lastModifiedBy>ankita babar</cp:lastModifiedBy>
  <cp:revision>1</cp:revision>
  <dcterms:created xsi:type="dcterms:W3CDTF">2026-09-15T01:49:08Z</dcterms:created>
  <dcterms:modified xsi:type="dcterms:W3CDTF">2026-09-15T08:58:59Z</dcterms:modified>
</cp:coreProperties>
</file>